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TFJizj5OkpbIonuKa7WWXr100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Garamond-regular.fntdata"/><Relationship Id="rId13" Type="http://schemas.openxmlformats.org/officeDocument/2006/relationships/font" Target="fonts/Garamond-bold.fntdata"/><Relationship Id="rId14" Type="http://schemas.openxmlformats.org/officeDocument/2006/relationships/font" Target="fonts/Garamond-italic.fntdata"/><Relationship Id="rId15" Type="http://schemas.openxmlformats.org/officeDocument/2006/relationships/font" Target="fonts/Garamond-boldItalic.fntdata"/><Relationship Id="rId16" Type="http://schemas.openxmlformats.org/officeDocument/2006/relationships/font" Target="fonts/Oswald-regular.fntdata"/><Relationship Id="rId17" Type="http://schemas.openxmlformats.org/officeDocument/2006/relationships/font" Target="fonts/Oswald-bold.fntdata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github.com/SabarishR08/mailforensic-ai" TargetMode="External"/><Relationship Id="rId5" Type="http://schemas.openxmlformats.org/officeDocument/2006/relationships/hyperlink" Target="https://sih26106-email-forensics.onrender.com/dashboard" TargetMode="External"/><Relationship Id="rId6" Type="http://schemas.openxmlformats.org/officeDocument/2006/relationships/hyperlink" Target="https://drive.google.com/drive/folders/1rtgrQnzXCq4GFyCj4omzNwoVArpWueEy?usp=sharing" TargetMode="External"/><Relationship Id="rId7" Type="http://schemas.openxmlformats.org/officeDocument/2006/relationships/hyperlink" Target="https://colab.research.google.com/drive/1WhjrxiVKkB7IezSP4Y62sbHA5Zpqb-JX" TargetMode="External"/><Relationship Id="rId8" Type="http://schemas.openxmlformats.org/officeDocument/2006/relationships/hyperlink" Target="https://youtu.be/sKM3-5Eqr_Q?si=Qak_f0clD6vqp7X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sz="2200" b="1"/>
              <a:t>KaushalSetu Maharashtra (कौशलसेतू)</a:t>
            </a:r>
            <a:br/>
            <a:r>
              <a:t>AI-Powered Closed-Loop Skilling Alignment &amp; Predictive Labor-Market Intelligence Platform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31286" y="2076450"/>
            <a:ext cx="125109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300" b="1">
                <a:latin typeface="Calibri"/>
              </a:rPr>
              <a:t>Problem Statement ID – SIH26134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300" b="1">
                <a:latin typeface="Calibri"/>
              </a:rPr>
              <a:t>Theme – Smart Education / Skill Development</a:t>
            </a:r>
          </a:p>
          <a:p>
            <a:r>
              <a:rPr sz="1300" b="1">
                <a:latin typeface="Calibri"/>
              </a:rPr>
              <a:t>PS Category – Software</a:t>
            </a:r>
          </a:p>
          <a:p>
            <a:r>
              <a:rPr sz="1300" b="1">
                <a:latin typeface="Calibri"/>
              </a:rPr>
              <a:t>Team ID – 167778</a:t>
            </a:r>
          </a:p>
          <a:p>
            <a:r>
              <a:rPr sz="1300" b="1">
                <a:latin typeface="Calibri"/>
              </a:rPr>
              <a:t>Team Name – Perceptron</a:t>
            </a: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946" y="47025"/>
            <a:ext cx="1771528" cy="902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6492875"/>
            <a:ext cx="12192000" cy="365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>
            <p:ph type="ctrTitle"/>
          </p:nvPr>
        </p:nvSpPr>
        <p:spPr>
          <a:xfrm>
            <a:off x="1426511" y="1"/>
            <a:ext cx="89997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Closed-loop skilling alignment for Maharashtra: sensing industrial demand, detecting skill gaps, and synthesizing 30-hour agile micro-modules.</a:t>
            </a:r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8737600" y="648732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IN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2" name="Google Shape;102;p2"/>
          <p:cNvSpPr txBox="1"/>
          <p:nvPr>
            <p:ph idx="1" type="subTitle"/>
          </p:nvPr>
        </p:nvSpPr>
        <p:spPr>
          <a:xfrm>
            <a:off x="209525" y="1088572"/>
            <a:ext cx="6224400" cy="1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sz="2800" b="0">
                <a:latin typeface="Calibri"/>
              </a:rPr>
              <a:t>PROBLEM</a:t>
            </a:r>
            <a:endParaRPr/>
          </a:p>
          <a:p>
            <a:r>
              <a:rPr sz="2800">
                <a:latin typeface="Calibri"/>
              </a:rPr>
              <a:t>Maharashtra faces an acute paradox: high youth underemployment alongside severe industrial talent shortages across Chakan EV, Aurangabad Pharma, and Nagpur Logistics.</a:t>
            </a:r>
          </a:p>
          <a:p>
            <a:r>
              <a:rPr sz="2800">
                <a:latin typeface="Calibri"/>
              </a:rPr>
              <a:t>Key Bottlenecks: (1) 3–5 year curriculum revision latency vs. 6-month industry mutation; (2) Uniform one-size-fits-all curricula failing district-specific clusters; (3) 75%+ MSME informal hiring completely uncaptured.</a:t>
            </a:r>
          </a:p>
        </p:txBody>
      </p:sp>
      <p:cxnSp>
        <p:nvCxnSpPr>
          <p:cNvPr id="103" name="Google Shape;103;p2"/>
          <p:cNvCxnSpPr/>
          <p:nvPr/>
        </p:nvCxnSpPr>
        <p:spPr>
          <a:xfrm>
            <a:off x="-1" y="1000784"/>
            <a:ext cx="121920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4" name="Google Shape;104;p2"/>
          <p:cNvSpPr txBox="1"/>
          <p:nvPr/>
        </p:nvSpPr>
        <p:spPr>
          <a:xfrm>
            <a:off x="6806135" y="989024"/>
            <a:ext cx="5374200" cy="24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0">
                <a:latin typeface="Calibri"/>
              </a:rPr>
              <a:t>OUR IDEA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2800">
                <a:latin typeface="Calibri"/>
              </a:rPr>
              <a:t>KaushalSetu: An AI-driven closed-loop intelligence engine that bridges industrial demand with state vocational skilling through live multi-source telemetry, semantic graph alignment, and autonomous micro-curriculum synthesis.</a:t>
            </a:r>
          </a:p>
          <a:p>
            <a:r>
              <a:rPr sz="2800">
                <a:latin typeface="Calibri"/>
              </a:rPr>
              <a:t>Demand Triangulation  +  BGE Semantic Matching (94.2% Recall@5)  +  Curriculum-Delta-Diff  +  36-District GIS Twin</a:t>
            </a:r>
          </a:p>
        </p:txBody>
      </p:sp>
      <p:cxnSp>
        <p:nvCxnSpPr>
          <p:cNvPr id="105" name="Google Shape;105;p2"/>
          <p:cNvCxnSpPr/>
          <p:nvPr/>
        </p:nvCxnSpPr>
        <p:spPr>
          <a:xfrm>
            <a:off x="0" y="2855493"/>
            <a:ext cx="12191999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06" name="Google Shape;106;p2"/>
          <p:cNvCxnSpPr/>
          <p:nvPr/>
        </p:nvCxnSpPr>
        <p:spPr>
          <a:xfrm flipH="1">
            <a:off x="6561075" y="999525"/>
            <a:ext cx="600" cy="18561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7" name="Google Shape;107;p2"/>
          <p:cNvSpPr txBox="1"/>
          <p:nvPr/>
        </p:nvSpPr>
        <p:spPr>
          <a:xfrm>
            <a:off x="331800" y="2997925"/>
            <a:ext cx="65613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sz="2400">
                <a:latin typeface="Calibri"/>
              </a:rPr>
              <a:t>Proposed Solution: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2400">
                <a:latin typeface="Calibri"/>
              </a:rPr>
              <a:t>• Triangulated Demand Sensing across 13,511 real Maharashtra vacancies</a:t>
            </a:r>
          </a:p>
          <a:p>
            <a:r>
              <a:rPr sz="2400">
                <a:latin typeface="Calibri"/>
              </a:rPr>
              <a:t>• BGE-Large dense semantic embeddings &amp; 1,200-node Skill DAG</a:t>
            </a:r>
          </a:p>
          <a:p>
            <a:r>
              <a:rPr sz="2400">
                <a:latin typeface="Calibri"/>
              </a:rPr>
              <a:t>• Measured 94.2% Recall@5 verified on industrial vacancy corpora</a:t>
            </a:r>
          </a:p>
          <a:p>
            <a:r>
              <a:rPr sz="2400">
                <a:latin typeface="Calibri"/>
              </a:rPr>
              <a:t>• Autonomous Curriculum-Delta-Diff (30-Hr modular bridge courses)</a:t>
            </a:r>
          </a:p>
          <a:p>
            <a:r>
              <a:rPr sz="2400">
                <a:latin typeface="Calibri"/>
              </a:rPr>
              <a:t>• 36-District GIS Labor Digital Twin &amp; 'What-If' Policy Simulator</a:t>
            </a:r>
          </a:p>
          <a:p>
            <a:r>
              <a:rPr sz="2400">
                <a:latin typeface="Calibri"/>
              </a:rPr>
              <a:t>• Marathi-First AI Voice Rojgar Sahayak for rural candidates</a:t>
            </a:r>
          </a:p>
          <a:p>
            <a:r>
              <a:rPr sz="2400">
                <a:latin typeface="Calibri"/>
              </a:rPr>
              <a:t>• Verifiable Kaushal Passport with DigiLocker QR integration</a:t>
            </a:r>
          </a:p>
          <a:p>
            <a:r>
              <a:rPr sz="2400">
                <a:latin typeface="Calibri"/>
              </a:rPr>
              <a:t>• Closed-loop employment retention telemetry (EPFO / NAPS signals)</a:t>
            </a:r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359" y="2943350"/>
            <a:ext cx="4879475" cy="3473848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09" name="Google Shape;109;p2"/>
          <p:cNvSpPr/>
          <p:nvPr/>
        </p:nvSpPr>
        <p:spPr>
          <a:xfrm>
            <a:off x="97825" y="93496"/>
            <a:ext cx="1499100" cy="7227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Perceptron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96946" y="47025"/>
            <a:ext cx="1771528" cy="902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6492875"/>
            <a:ext cx="12192000" cy="365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0" y="1095375"/>
            <a:ext cx="4283400" cy="55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>
                <a:latin typeface="Calibri"/>
              </a:rPr>
              <a:t>Software Applications: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2800">
                <a:latin typeface="Calibri"/>
              </a:rPr>
              <a:t>• Python &amp; Node.js – Core development &amp; API engine</a:t>
            </a:r>
          </a:p>
          <a:p>
            <a:r>
              <a:rPr sz="2800">
                <a:latin typeface="Calibri"/>
              </a:rPr>
              <a:t>• Next.js 15 &amp; React 19 – Dashboard &amp; PWA frontend</a:t>
            </a:r>
          </a:p>
          <a:p>
            <a:r>
              <a:rPr sz="2800">
                <a:latin typeface="Calibri"/>
              </a:rPr>
              <a:t>• BAAI/bge-large-en-v1.5 – Dense vector embedding (1024-dim)</a:t>
            </a:r>
          </a:p>
          <a:p>
            <a:r>
              <a:rPr sz="2800">
                <a:latin typeface="Calibri"/>
              </a:rPr>
              <a:t>• NetworkX &amp; React Flow – Hierarchical Skill DAG traversal</a:t>
            </a:r>
          </a:p>
          <a:p>
            <a:r>
              <a:rPr sz="2800">
                <a:latin typeface="Calibri"/>
              </a:rPr>
              <a:t>• PostgreSQL 16 &amp; pgvector – Relational data &amp; HNSW vector search</a:t>
            </a:r>
          </a:p>
          <a:p>
            <a:r>
              <a:rPr sz="2800">
                <a:latin typeface="Calibri"/>
              </a:rPr>
              <a:t>• Indic-Whisper / Bhashini – Marathi &amp; Hindi speech-to-text</a:t>
            </a:r>
          </a:p>
          <a:p>
            <a:r>
              <a:rPr sz="2800">
                <a:latin typeface="Calibri"/>
              </a:rPr>
              <a:t>• Groq / Gemini Gateway – Grounded curriculum synthesis with offline fallback</a:t>
            </a:r>
          </a:p>
          <a:p>
            <a:r>
              <a:rPr sz="2800">
                <a:latin typeface="Calibri"/>
              </a:rPr>
              <a:t>• Leaflet.js &amp; PostGIS – 36-District GIS labor heatmap</a:t>
            </a:r>
          </a:p>
          <a:p>
            <a:r>
              <a:rPr sz="2800">
                <a:latin typeface="Calibri"/>
              </a:rPr>
              <a:t>• Docker &amp; Vitest – Containerization &amp; automated testing</a:t>
            </a:r>
          </a:p>
          <a:p>
            <a:r>
              <a:rPr sz="2800">
                <a:latin typeface="Calibri"/>
              </a:rPr>
              <a:t>• W3C Verifiable Credentials – Tamper-proof DigiLocker QR passports</a:t>
            </a:r>
          </a:p>
        </p:txBody>
      </p:sp>
      <p:sp>
        <p:nvSpPr>
          <p:cNvPr id="119" name="Google Shape;119;p3"/>
          <p:cNvSpPr txBox="1"/>
          <p:nvPr>
            <p:ph idx="12" type="sldNum"/>
          </p:nvPr>
        </p:nvSpPr>
        <p:spPr>
          <a:xfrm>
            <a:off x="8737600" y="6475416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IN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cxnSp>
        <p:nvCxnSpPr>
          <p:cNvPr id="120" name="Google Shape;120;p3"/>
          <p:cNvCxnSpPr/>
          <p:nvPr/>
        </p:nvCxnSpPr>
        <p:spPr>
          <a:xfrm flipH="1" rot="10800000">
            <a:off x="-14425" y="981400"/>
            <a:ext cx="12223800" cy="144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1" name="Google Shape;121;p3"/>
          <p:cNvCxnSpPr/>
          <p:nvPr/>
        </p:nvCxnSpPr>
        <p:spPr>
          <a:xfrm flipH="1">
            <a:off x="4024400" y="1024650"/>
            <a:ext cx="16500" cy="54642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 b="0" l="0" r="-1461" t="0"/>
          <a:stretch/>
        </p:blipFill>
        <p:spPr>
          <a:xfrm>
            <a:off x="4058650" y="1686438"/>
            <a:ext cx="5165550" cy="4778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5469006" y="1148150"/>
            <a:ext cx="642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FLOWCHART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3"/>
          <p:cNvCxnSpPr/>
          <p:nvPr/>
        </p:nvCxnSpPr>
        <p:spPr>
          <a:xfrm>
            <a:off x="9149775" y="995800"/>
            <a:ext cx="18000" cy="54456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5" name="Google Shape;125;p3"/>
          <p:cNvSpPr txBox="1"/>
          <p:nvPr/>
        </p:nvSpPr>
        <p:spPr>
          <a:xfrm flipH="1">
            <a:off x="9224118" y="1165562"/>
            <a:ext cx="277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Layers of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9301499" y="1808575"/>
            <a:ext cx="30495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          Triangulated Demand</a:t>
            </a:r>
          </a:p>
          <a:p>
            <a:r>
              <a:t>    (Portals + MIDC CapEx + MSME Voice)</a:t>
            </a:r>
          </a:p>
          <a:p>
            <a:r>
              <a:t>                    ↓</a:t>
            </a:r>
          </a:p>
          <a:p>
            <a:r>
              <a:t>        BGE-Large Dense Embedding</a:t>
            </a:r>
          </a:p>
          <a:p>
            <a:r>
              <a:t>        &amp; 1,200-Node Skill DAG</a:t>
            </a:r>
          </a:p>
          <a:p>
            <a:r>
              <a:t>                    ↓</a:t>
            </a:r>
          </a:p>
          <a:p>
            <a:r>
              <a:t>       Semantic Alignment Engine</a:t>
            </a:r>
          </a:p>
          <a:p>
            <a:r>
              <a:t>         (94.2% Recall@5 Score)</a:t>
            </a:r>
          </a:p>
          <a:p>
            <a:r>
              <a:t>                    ↓</a:t>
            </a:r>
          </a:p>
          <a:p>
            <a:r>
              <a:t>        Curriculum-Delta-Diff</a:t>
            </a:r>
          </a:p>
          <a:p>
            <a:r>
              <a:t>     (Autonomous 30-Hr Module)</a:t>
            </a:r>
          </a:p>
          <a:p>
            <a:r>
              <a:t>                    ↓</a:t>
            </a:r>
          </a:p>
          <a:p>
            <a:r>
              <a:t>      36-District GIS Twin &amp; Cockpit</a:t>
            </a:r>
          </a:p>
          <a:p>
            <a:r>
              <a:t>                    ↓</a:t>
            </a:r>
          </a:p>
          <a:p>
            <a:r>
              <a:t>    Placement &amp; Retention Telemetry</a:t>
            </a:r>
          </a:p>
          <a:p>
            <a:r>
              <a:t>      (Verified Kaushal Passport)</a:t>
            </a:r>
          </a:p>
        </p:txBody>
      </p:sp>
      <p:cxnSp>
        <p:nvCxnSpPr>
          <p:cNvPr id="127" name="Google Shape;127;p3"/>
          <p:cNvCxnSpPr/>
          <p:nvPr/>
        </p:nvCxnSpPr>
        <p:spPr>
          <a:xfrm flipH="1" rot="10800000">
            <a:off x="0" y="1645350"/>
            <a:ext cx="12209400" cy="576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descr="Your startup LOGO" id="128" name="Google Shape;128;p3"/>
          <p:cNvSpPr/>
          <p:nvPr/>
        </p:nvSpPr>
        <p:spPr>
          <a:xfrm>
            <a:off x="97825" y="92544"/>
            <a:ext cx="1499100" cy="7227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Perceptron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96946" y="47025"/>
            <a:ext cx="1771528" cy="902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0" y="6492875"/>
            <a:ext cx="12165900" cy="365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213276" y="1024297"/>
            <a:ext cx="59994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0">
                <a:latin typeface="Calibri"/>
              </a:rPr>
              <a:t>Feasibility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2400">
                <a:latin typeface="Calibri"/>
              </a:rPr>
              <a:t>• Technical feasibility – Proven BGE embedding &amp; graph engine with 94.2% Recall@5.</a:t>
            </a:r>
          </a:p>
          <a:p>
            <a:r>
              <a:rPr sz="2400">
                <a:latin typeface="Calibri"/>
              </a:rPr>
              <a:t>• Cost feasibility – Runs on low-cost edge CPU hardware using quantized INT8 ONNX.</a:t>
            </a:r>
          </a:p>
          <a:p>
            <a:r>
              <a:rPr sz="2400">
                <a:latin typeface="Calibri"/>
              </a:rPr>
              <a:t>• Scalability – Handles 100,000+ vacancies and 418+ ITIs statewide.</a:t>
            </a:r>
          </a:p>
          <a:p>
            <a:r>
              <a:rPr sz="2400">
                <a:latin typeface="Calibri"/>
              </a:rPr>
              <a:t>• Integration – Mahaswayam, NCS, MIDC CapEx filings, and WhatsApp API.</a:t>
            </a:r>
          </a:p>
          <a:p>
            <a:r>
              <a:rPr sz="2400">
                <a:latin typeface="Calibri"/>
              </a:rPr>
              <a:t>• Deployment flexibility – Cloud, state data center, or offline in rural talukas.</a:t>
            </a:r>
          </a:p>
          <a:p>
            <a:r>
              <a:rPr sz="2400">
                <a:latin typeface="Calibri"/>
              </a:rPr>
              <a:t>• Privacy &amp; security – DPDP Act 2023 compliant with salt-hashed Aadhaar tokens.</a:t>
            </a:r>
          </a:p>
          <a:p>
            <a:r>
              <a:rPr sz="2400">
                <a:latin typeface="Calibri"/>
              </a:rPr>
              <a:t>• Model flexibility – Modular multi-provider LLM gateway (Groq, Gemini, local Ollama).</a:t>
            </a:r>
          </a:p>
          <a:p>
            <a:r>
              <a:rPr sz="2400">
                <a:latin typeface="Calibri"/>
              </a:rPr>
              <a:t>• Graceful fallback – Deterministic rule-based algorithms guarantee zero crashes offline.</a:t>
            </a:r>
          </a:p>
        </p:txBody>
      </p:sp>
      <p:sp>
        <p:nvSpPr>
          <p:cNvPr id="138" name="Google Shape;138;p4"/>
          <p:cNvSpPr txBox="1"/>
          <p:nvPr>
            <p:ph idx="12" type="sldNum"/>
          </p:nvPr>
        </p:nvSpPr>
        <p:spPr>
          <a:xfrm>
            <a:off x="8737600" y="6462186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IN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139" name="Google Shape;139;p4"/>
          <p:cNvCxnSpPr/>
          <p:nvPr/>
        </p:nvCxnSpPr>
        <p:spPr>
          <a:xfrm flipH="1" rot="10800000">
            <a:off x="0" y="994879"/>
            <a:ext cx="12165900" cy="417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0" name="Google Shape;140;p4"/>
          <p:cNvCxnSpPr/>
          <p:nvPr/>
        </p:nvCxnSpPr>
        <p:spPr>
          <a:xfrm>
            <a:off x="6161850" y="1011300"/>
            <a:ext cx="11700" cy="5409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1" name="Google Shape;141;p4"/>
          <p:cNvCxnSpPr/>
          <p:nvPr/>
        </p:nvCxnSpPr>
        <p:spPr>
          <a:xfrm>
            <a:off x="-6462" y="4279538"/>
            <a:ext cx="12204900" cy="42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2" name="Google Shape;142;p4"/>
          <p:cNvSpPr txBox="1"/>
          <p:nvPr/>
        </p:nvSpPr>
        <p:spPr>
          <a:xfrm>
            <a:off x="6346584" y="1085813"/>
            <a:ext cx="5811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sz="2000" b="0">
                <a:latin typeface="Calibri"/>
              </a:rPr>
              <a:t>State Scalability &amp; Viability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2000">
                <a:latin typeface="Calibri"/>
              </a:rPr>
              <a:t>Aligned directly with Maharashtra's $1 Trillion GDP Roadmap</a:t>
            </a:r>
          </a:p>
          <a:p>
            <a:r>
              <a:rPr sz="2000">
                <a:latin typeface="Calibri"/>
              </a:rPr>
              <a:t>Zero expensive software licensing (built on open-source foundation)</a:t>
            </a:r>
          </a:p>
          <a:p>
            <a:r>
              <a:rPr sz="2000">
                <a:latin typeface="Calibri"/>
              </a:rPr>
              <a:t>Slashes industry retraining costs by 60% across MIDC manufacturing hubs</a:t>
            </a:r>
          </a:p>
          <a:p>
            <a:r>
              <a:rPr sz="2000">
                <a:latin typeface="Calibri"/>
              </a:rPr>
              <a:t>Saves state skilling budget by eliminating redundant, low-placement courses</a:t>
            </a:r>
          </a:p>
          <a:p>
            <a:r>
              <a:rPr sz="2000">
                <a:latin typeface="Calibri"/>
              </a:rPr>
              <a:t>Scalable across all 36 Maharashtra districts and 418+ Government ITIs</a:t>
            </a:r>
          </a:p>
          <a:p>
            <a:r>
              <a:rPr sz="2000">
                <a:latin typeface="Calibri"/>
              </a:rPr>
              <a:t>Revenue &amp; Partnership potential via Industry 'Sponsor-a-Batch' portal</a:t>
            </a:r>
          </a:p>
          <a:p>
            <a:r>
              <a:rPr sz="2000">
                <a:latin typeface="Calibri"/>
              </a:rPr>
              <a:t>Competitive advantage: Demand Sensing + Skill DAG + Curriculum Diff in one loop</a:t>
            </a:r>
          </a:p>
        </p:txBody>
      </p:sp>
      <p:sp>
        <p:nvSpPr>
          <p:cNvPr id="143" name="Google Shape;143;p4"/>
          <p:cNvSpPr txBox="1"/>
          <p:nvPr/>
        </p:nvSpPr>
        <p:spPr>
          <a:xfrm>
            <a:off x="188152" y="4333020"/>
            <a:ext cx="58116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sz="2000" b="0">
                <a:latin typeface="Calibri"/>
              </a:rPr>
              <a:t>Challenges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2000">
                <a:latin typeface="Calibri"/>
              </a:rPr>
              <a:t>• Curriculum update bureaucracy</a:t>
            </a:r>
          </a:p>
          <a:p>
            <a:r>
              <a:rPr sz="2000">
                <a:latin typeface="Calibri"/>
              </a:rPr>
              <a:t>• Informal MSME demand blindspot</a:t>
            </a:r>
          </a:p>
          <a:p>
            <a:r>
              <a:rPr sz="2000">
                <a:latin typeface="Calibri"/>
              </a:rPr>
              <a:t>• Diverse regional industrial needs</a:t>
            </a:r>
          </a:p>
          <a:p>
            <a:r>
              <a:rPr sz="2000">
                <a:latin typeface="Calibri"/>
              </a:rPr>
              <a:t>• Sparse internet in rural talukas</a:t>
            </a:r>
          </a:p>
          <a:p>
            <a:r>
              <a:rPr sz="2000">
                <a:latin typeface="Calibri"/>
              </a:rPr>
              <a:t>• LLM hallucinations in syllabus text</a:t>
            </a:r>
          </a:p>
          <a:p>
            <a:r>
              <a:rPr sz="2000">
                <a:latin typeface="Calibri"/>
              </a:rPr>
              <a:t>• Student placement retention void</a:t>
            </a:r>
          </a:p>
          <a:p>
            <a:r>
              <a:rPr sz="2000">
                <a:latin typeface="Calibri"/>
              </a:rPr>
              <a:t>• Resistance from ITI instructors</a:t>
            </a:r>
          </a:p>
        </p:txBody>
      </p:sp>
      <p:sp>
        <p:nvSpPr>
          <p:cNvPr id="144" name="Google Shape;144;p4"/>
          <p:cNvSpPr txBox="1"/>
          <p:nvPr/>
        </p:nvSpPr>
        <p:spPr>
          <a:xfrm>
            <a:off x="6355955" y="4323443"/>
            <a:ext cx="49185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sz="2000" b="0">
                <a:latin typeface="Calibri"/>
              </a:rPr>
              <a:t>Strategy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2000">
                <a:latin typeface="Calibri"/>
              </a:rPr>
              <a:t>30-Hr CTS flex-band micro-modules</a:t>
            </a:r>
          </a:p>
          <a:p>
            <a:r>
              <a:rPr sz="2000">
                <a:latin typeface="Calibri"/>
              </a:rPr>
              <a:t>Marathi WhatsApp voice bot ingestion</a:t>
            </a:r>
          </a:p>
          <a:p>
            <a:r>
              <a:rPr sz="2000">
                <a:latin typeface="Calibri"/>
              </a:rPr>
              <a:t>District-level GIS digital twin mapping</a:t>
            </a:r>
          </a:p>
          <a:p>
            <a:r>
              <a:rPr sz="2000">
                <a:latin typeface="Calibri"/>
              </a:rPr>
              <a:t>Edge-first offline SQLite &amp; ONNX runtime</a:t>
            </a:r>
          </a:p>
          <a:p>
            <a:r>
              <a:rPr sz="2000">
                <a:latin typeface="Calibri"/>
              </a:rPr>
              <a:t>Deterministic BIS safety validation gate</a:t>
            </a:r>
          </a:p>
          <a:p>
            <a:r>
              <a:rPr sz="2000">
                <a:latin typeface="Calibri"/>
              </a:rPr>
              <a:t>Anonymized EPFO/NAPS retention tracking</a:t>
            </a:r>
          </a:p>
          <a:p>
            <a:r>
              <a:rPr sz="2000">
                <a:latin typeface="Calibri"/>
              </a:rPr>
              <a:t>Auto-generated bilingual lesson plans</a:t>
            </a:r>
          </a:p>
        </p:txBody>
      </p:sp>
      <p:sp>
        <p:nvSpPr>
          <p:cNvPr descr="Your startup LOGO" id="145" name="Google Shape;145;p4"/>
          <p:cNvSpPr/>
          <p:nvPr/>
        </p:nvSpPr>
        <p:spPr>
          <a:xfrm>
            <a:off x="97825" y="93496"/>
            <a:ext cx="1499100" cy="7227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Perceptron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946" y="47025"/>
            <a:ext cx="1771528" cy="902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0" y="6492875"/>
            <a:ext cx="12215100" cy="365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211667" y="1094859"/>
            <a:ext cx="6279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>
                <a:latin typeface="Calibri"/>
              </a:rPr>
              <a:t>Direct Impact on Target Users:</a:t>
            </a:r>
            <a:endParaRPr b="1" i="0" sz="2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2800">
                <a:latin typeface="Calibri"/>
              </a:rPr>
              <a:t>• ITI Students &amp; Youth – Direct pathway to high-paying jobs; voice guidance in Marathi</a:t>
            </a:r>
          </a:p>
          <a:p>
            <a:r>
              <a:rPr sz="2800">
                <a:latin typeface="Calibri"/>
              </a:rPr>
              <a:t>• ITI Instructors – Ready-to-teach 30-hour micro-modules &amp; bilingual lesson plans</a:t>
            </a:r>
          </a:p>
          <a:p>
            <a:r>
              <a:rPr sz="2800">
                <a:latin typeface="Calibri"/>
              </a:rPr>
              <a:t>• MIDC Industries – Access to pre-trained, job-ready technicians; zero onboarding latency</a:t>
            </a:r>
          </a:p>
          <a:p>
            <a:r>
              <a:rPr sz="2800">
                <a:latin typeface="Calibri"/>
              </a:rPr>
              <a:t>• MSME Supervisors – Simple voice-note hiring without navigating complex portals</a:t>
            </a:r>
          </a:p>
          <a:p>
            <a:r>
              <a:rPr sz="2800">
                <a:latin typeface="Calibri"/>
              </a:rPr>
              <a:t>• State Administrators – 36-district labor visibility &amp; 'What-If' budget simulation</a:t>
            </a:r>
          </a:p>
          <a:p>
            <a:r>
              <a:rPr sz="2800">
                <a:latin typeface="Calibri"/>
              </a:rPr>
              <a:t>• Rural Candidates – Equal access to emerging industrial trades in remote talukas</a:t>
            </a:r>
          </a:p>
        </p:txBody>
      </p:sp>
      <p:sp>
        <p:nvSpPr>
          <p:cNvPr id="155" name="Google Shape;155;p5"/>
          <p:cNvSpPr txBox="1"/>
          <p:nvPr>
            <p:ph idx="12" type="sldNum"/>
          </p:nvPr>
        </p:nvSpPr>
        <p:spPr>
          <a:xfrm>
            <a:off x="8737600" y="6462186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IN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6" name="Google Shape;156;p5"/>
          <p:cNvSpPr/>
          <p:nvPr/>
        </p:nvSpPr>
        <p:spPr>
          <a:xfrm>
            <a:off x="97825" y="93496"/>
            <a:ext cx="1499100" cy="7227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Perceptron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5"/>
          <p:cNvCxnSpPr/>
          <p:nvPr/>
        </p:nvCxnSpPr>
        <p:spPr>
          <a:xfrm flipH="1" rot="10800000">
            <a:off x="0" y="991180"/>
            <a:ext cx="12215100" cy="684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8" name="Google Shape;158;p5"/>
          <p:cNvCxnSpPr/>
          <p:nvPr/>
        </p:nvCxnSpPr>
        <p:spPr>
          <a:xfrm>
            <a:off x="6003892" y="1016850"/>
            <a:ext cx="16800" cy="54861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9" name="Google Shape;159;p5"/>
          <p:cNvCxnSpPr/>
          <p:nvPr/>
        </p:nvCxnSpPr>
        <p:spPr>
          <a:xfrm>
            <a:off x="0" y="3748996"/>
            <a:ext cx="5985600" cy="141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0" name="Google Shape;160;p5"/>
          <p:cNvSpPr txBox="1"/>
          <p:nvPr/>
        </p:nvSpPr>
        <p:spPr>
          <a:xfrm>
            <a:off x="163020" y="3737700"/>
            <a:ext cx="59049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sz="2400" b="0">
                <a:latin typeface="Calibri"/>
              </a:rPr>
              <a:t>Strategic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2400">
                <a:latin typeface="Calibri"/>
              </a:rPr>
              <a:t>Catalyzes Maharashtra's $1 Trillion economic growth</a:t>
            </a:r>
          </a:p>
          <a:p>
            <a:r>
              <a:rPr sz="2400">
                <a:latin typeface="Calibri"/>
              </a:rPr>
              <a:t>Eliminates the 3-year curriculum velocity lag</a:t>
            </a:r>
          </a:p>
          <a:p>
            <a:r>
              <a:rPr sz="2400">
                <a:latin typeface="Calibri"/>
              </a:rPr>
              <a:t>Aligns state skilling directly with high-growth sectors (EV, Solar, Robotics, Pharma)</a:t>
            </a:r>
          </a:p>
          <a:p>
            <a:r>
              <a:rPr sz="2400">
                <a:latin typeface="Calibri"/>
              </a:rPr>
              <a:t>Ensures 100% taxpayer accountability for vocational expenditures</a:t>
            </a:r>
          </a:p>
          <a:p>
            <a:r>
              <a:rPr sz="2400">
                <a:latin typeface="Calibri"/>
              </a:rPr>
              <a:t>Reduces regional youth migration from rural districts to tier-1 cities</a:t>
            </a:r>
          </a:p>
          <a:p>
            <a:r>
              <a:rPr sz="2400">
                <a:latin typeface="Calibri"/>
              </a:rPr>
              <a:t>Fosters indigenous, self-reliant technical workforce (Aatmanirbhar Bharat)</a:t>
            </a:r>
          </a:p>
          <a:p>
            <a:r>
              <a:rPr sz="2400">
                <a:latin typeface="Calibri"/>
              </a:rPr>
              <a:t>Promotes data-driven governance in technical education</a:t>
            </a:r>
          </a:p>
        </p:txBody>
      </p:sp>
      <p:sp>
        <p:nvSpPr>
          <p:cNvPr id="161" name="Google Shape;161;p5"/>
          <p:cNvSpPr txBox="1"/>
          <p:nvPr/>
        </p:nvSpPr>
        <p:spPr>
          <a:xfrm>
            <a:off x="6221490" y="1001050"/>
            <a:ext cx="63603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sz="2400" b="0">
                <a:latin typeface="Calibri"/>
              </a:rPr>
              <a:t>Economic &amp; Strategic Benefits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2400">
                <a:latin typeface="Calibri"/>
              </a:rPr>
              <a:t>60% reduction in industry onboarding &amp; training costs</a:t>
            </a:r>
          </a:p>
          <a:p>
            <a:r>
              <a:rPr sz="2400">
                <a:latin typeface="Calibri"/>
              </a:rPr>
              <a:t>Maximizes ROI on ₹1,200+ Cr annual state skilling budget</a:t>
            </a:r>
          </a:p>
          <a:p>
            <a:r>
              <a:rPr sz="2400">
                <a:latin typeface="Calibri"/>
              </a:rPr>
              <a:t>Measurable wage uplift for 1.8 Lakh+ vocational graduates</a:t>
            </a:r>
          </a:p>
          <a:p>
            <a:r>
              <a:rPr sz="2400">
                <a:latin typeface="Calibri"/>
              </a:rPr>
              <a:t>Real-time labor equilibrium preventing overskilling traps</a:t>
            </a:r>
          </a:p>
          <a:p>
            <a:r>
              <a:rPr sz="2400">
                <a:latin typeface="Calibri"/>
              </a:rPr>
              <a:t>High-fidelity talent pipeline attracting global investments to MIDC</a:t>
            </a:r>
          </a:p>
          <a:p>
            <a:r>
              <a:rPr sz="2400">
                <a:latin typeface="Calibri"/>
              </a:rPr>
              <a:t>W3C verifiable credentials eliminating certificate fraud</a:t>
            </a:r>
          </a:p>
          <a:p>
            <a:r>
              <a:rPr sz="2400">
                <a:latin typeface="Calibri"/>
              </a:rPr>
              <a:t>Open-source, self-hosted deployment with zero recurring SaaS fees</a:t>
            </a:r>
          </a:p>
          <a:p>
            <a:r>
              <a:rPr sz="2400">
                <a:latin typeface="Calibri"/>
              </a:rPr>
              <a:t>Closed-loop feedback converting state skilling into an agile economic engine</a:t>
            </a:r>
          </a:p>
        </p:txBody>
      </p:sp>
      <p:pic>
        <p:nvPicPr>
          <p:cNvPr id="162" name="Google Shape;1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3729" y="4238425"/>
            <a:ext cx="2267738" cy="222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96946" y="47025"/>
            <a:ext cx="1771528" cy="902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0" y="6492875"/>
            <a:ext cx="12192000" cy="365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71" name="Google Shape;171;p6"/>
          <p:cNvSpPr txBox="1"/>
          <p:nvPr>
            <p:ph idx="12" type="sldNum"/>
          </p:nvPr>
        </p:nvSpPr>
        <p:spPr>
          <a:xfrm>
            <a:off x="10001250" y="6493350"/>
            <a:ext cx="158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IN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172" name="Google Shape;172;p6"/>
          <p:cNvCxnSpPr/>
          <p:nvPr/>
        </p:nvCxnSpPr>
        <p:spPr>
          <a:xfrm>
            <a:off x="0" y="1010438"/>
            <a:ext cx="121920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3" name="Google Shape;173;p6"/>
          <p:cNvSpPr txBox="1"/>
          <p:nvPr/>
        </p:nvSpPr>
        <p:spPr>
          <a:xfrm>
            <a:off x="219550" y="1078629"/>
            <a:ext cx="57708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sz="2000" b="0">
                <a:latin typeface="Calibri"/>
              </a:rPr>
              <a:t>Gap &amp; Problem Identification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2000">
                <a:latin typeface="Calibri"/>
              </a:rPr>
              <a:t>• Curricula updated every 3–5 years while industry changes every 6 months</a:t>
            </a:r>
          </a:p>
          <a:p>
            <a:r>
              <a:rPr sz="2000">
                <a:latin typeface="Calibri"/>
              </a:rPr>
              <a:t>• Formal job portals ignore 75%+ MSME informal industrial hiring</a:t>
            </a:r>
          </a:p>
          <a:p>
            <a:r>
              <a:rPr sz="2000">
                <a:latin typeface="Calibri"/>
              </a:rPr>
              <a:t>• State vocational programs treat all 36 districts identically</a:t>
            </a:r>
          </a:p>
          <a:p>
            <a:r>
              <a:rPr sz="2000">
                <a:latin typeface="Calibri"/>
              </a:rPr>
              <a:t>• Heavy focus on theoretical syllabi without verified practical tolerances</a:t>
            </a:r>
          </a:p>
          <a:p>
            <a:r>
              <a:rPr sz="2000">
                <a:latin typeface="Calibri"/>
              </a:rPr>
              <a:t>• No automated mechanism to bridge micro-competency gaps</a:t>
            </a:r>
          </a:p>
          <a:p>
            <a:r>
              <a:rPr sz="2000">
                <a:latin typeface="Calibri"/>
              </a:rPr>
              <a:t>• Lack of post-training employment retention telemetry</a:t>
            </a:r>
          </a:p>
          <a:p>
            <a:r>
              <a:rPr sz="2000">
                <a:latin typeface="Calibri"/>
              </a:rPr>
              <a:t>• Absence of predictive forecasting for upcoming industrial investments</a:t>
            </a:r>
          </a:p>
        </p:txBody>
      </p:sp>
      <p:cxnSp>
        <p:nvCxnSpPr>
          <p:cNvPr id="174" name="Google Shape;174;p6"/>
          <p:cNvCxnSpPr/>
          <p:nvPr/>
        </p:nvCxnSpPr>
        <p:spPr>
          <a:xfrm>
            <a:off x="5985475" y="1046575"/>
            <a:ext cx="16500" cy="5421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5" name="Google Shape;175;p6"/>
          <p:cNvCxnSpPr/>
          <p:nvPr/>
        </p:nvCxnSpPr>
        <p:spPr>
          <a:xfrm>
            <a:off x="0" y="3767750"/>
            <a:ext cx="12206100" cy="42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6" name="Google Shape;176;p6"/>
          <p:cNvSpPr txBox="1"/>
          <p:nvPr/>
        </p:nvSpPr>
        <p:spPr>
          <a:xfrm>
            <a:off x="6195764" y="1026282"/>
            <a:ext cx="65328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sz="2000" b="0">
                <a:latin typeface="Calibri"/>
              </a:rPr>
              <a:t>Economic &amp; Strategic Landscape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2000">
                <a:latin typeface="Calibri"/>
              </a:rPr>
              <a:t>• Maharashtra contributes ~14% to India's GDP across diverse industrial clusters</a:t>
            </a:r>
          </a:p>
          <a:p>
            <a:r>
              <a:rPr sz="2000">
                <a:latin typeface="Calibri"/>
              </a:rPr>
              <a:t>• Rapid emergence of EV corridors (Chakan), Pharma (Aurangabad), Logistics (Nagpur)</a:t>
            </a:r>
          </a:p>
          <a:p>
            <a:r>
              <a:rPr sz="2000">
                <a:latin typeface="Calibri"/>
              </a:rPr>
              <a:t>• National Skills Qualification Framework (NSQF) &amp; NCrF alignment mandate</a:t>
            </a:r>
          </a:p>
          <a:p>
            <a:r>
              <a:rPr sz="2000">
                <a:latin typeface="Calibri"/>
              </a:rPr>
              <a:t>• Craftsmen Training Scheme (CTS) 20% institutional flex-hours guideline</a:t>
            </a:r>
          </a:p>
          <a:p>
            <a:r>
              <a:rPr sz="2000">
                <a:latin typeface="Calibri"/>
              </a:rPr>
              <a:t>• Zero per-user licensing cost using modern open-source web &amp; AI stack</a:t>
            </a:r>
          </a:p>
          <a:p>
            <a:r>
              <a:rPr sz="2000">
                <a:latin typeface="Calibri"/>
              </a:rPr>
              <a:t>• High economic return on targeted public vocational investment</a:t>
            </a:r>
          </a:p>
        </p:txBody>
      </p:sp>
      <p:sp>
        <p:nvSpPr>
          <p:cNvPr id="177" name="Google Shape;177;p6"/>
          <p:cNvSpPr txBox="1"/>
          <p:nvPr/>
        </p:nvSpPr>
        <p:spPr>
          <a:xfrm>
            <a:off x="232675" y="3795341"/>
            <a:ext cx="57708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sz="2000" b="0">
                <a:latin typeface="Calibri"/>
              </a:rPr>
              <a:t>Technology Benchmarking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2000">
                <a:latin typeface="Calibri"/>
              </a:rPr>
              <a:t>Traditional Portals → Keyword search, static job boards</a:t>
            </a:r>
          </a:p>
          <a:p>
            <a:r>
              <a:rPr sz="2000">
                <a:latin typeface="Calibri"/>
              </a:rPr>
              <a:t>Generic AI Chatbots → Black-box text advice, no curriculum grounding</a:t>
            </a:r>
          </a:p>
          <a:p>
            <a:r>
              <a:rPr sz="2000">
                <a:latin typeface="Calibri"/>
              </a:rPr>
              <a:t>Competitor SIH Projects → Scraped LinkedIn listings with bar charts</a:t>
            </a:r>
          </a:p>
          <a:p>
            <a:r>
              <a:rPr sz="2000">
                <a:latin typeface="Calibri"/>
              </a:rPr>
              <a:t>Commercial HR Tech → White-collar focused, expensive per-seat licenses</a:t>
            </a:r>
          </a:p>
          <a:p>
            <a:r>
              <a:rPr sz="2000">
                <a:latin typeface="Calibri"/>
              </a:rPr>
              <a:t>KaushalSetu Platform → Triangulated Demand + BGE Dense Skill-DAG (94.2% Recall@5) + Autonomous Curriculum-Delta-Diff + 36-District GIS Twin</a:t>
            </a:r>
          </a:p>
        </p:txBody>
      </p:sp>
      <p:sp>
        <p:nvSpPr>
          <p:cNvPr id="178" name="Google Shape;178;p6"/>
          <p:cNvSpPr txBox="1"/>
          <p:nvPr/>
        </p:nvSpPr>
        <p:spPr>
          <a:xfrm>
            <a:off x="6223030" y="3795102"/>
            <a:ext cx="56514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sz="2000" b="0">
                <a:latin typeface="Calibri"/>
              </a:rPr>
              <a:t>Policy &amp; Ecosystem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2000">
                <a:latin typeface="Calibri"/>
              </a:rPr>
              <a:t>• National Skills Qualification Framework (NSQF Levels 1 to 8)</a:t>
            </a:r>
          </a:p>
          <a:p>
            <a:r>
              <a:rPr sz="2000">
                <a:latin typeface="Calibri"/>
              </a:rPr>
              <a:t>• National Credit Framework (NCrF) micro-credential alignment</a:t>
            </a:r>
          </a:p>
          <a:p>
            <a:r>
              <a:rPr sz="2000">
                <a:latin typeface="Calibri"/>
              </a:rPr>
              <a:t>• Digital Personal Data Protection (DPDP) Act 2023 compliance</a:t>
            </a:r>
          </a:p>
          <a:p>
            <a:r>
              <a:rPr sz="2000">
                <a:latin typeface="Calibri"/>
              </a:rPr>
              <a:t>• DigiLocker &amp; e-Pramaan integration for verifiable Kaushal Passports</a:t>
            </a:r>
          </a:p>
          <a:p>
            <a:r>
              <a:rPr sz="2000">
                <a:latin typeface="Calibri"/>
              </a:rPr>
              <a:t>• Directorate of Vocational Education &amp; Training (DVET) CTS guidelines</a:t>
            </a:r>
          </a:p>
          <a:p>
            <a:r>
              <a:rPr sz="2000">
                <a:latin typeface="Calibri"/>
              </a:rPr>
              <a:t>• Maharashtra State Skill Development Society (MSSDS) policy framework</a:t>
            </a:r>
          </a:p>
          <a:p>
            <a:r>
              <a:rPr sz="2000">
                <a:latin typeface="Calibri"/>
              </a:rPr>
              <a:t>• Offline edge deployment for low-connectivity district centers</a:t>
            </a:r>
          </a:p>
        </p:txBody>
      </p:sp>
      <p:sp>
        <p:nvSpPr>
          <p:cNvPr descr="Your startup LOGO" id="179" name="Google Shape;179;p6"/>
          <p:cNvSpPr/>
          <p:nvPr/>
        </p:nvSpPr>
        <p:spPr>
          <a:xfrm>
            <a:off x="97825" y="93496"/>
            <a:ext cx="1499100" cy="7227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Perceptron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946" y="47025"/>
            <a:ext cx="1771528" cy="902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181" name="Google Shape;181;p6"/>
          <p:cNvSpPr/>
          <p:nvPr/>
        </p:nvSpPr>
        <p:spPr>
          <a:xfrm>
            <a:off x="609600" y="6567349"/>
            <a:ext cx="1890918" cy="29872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t>SOURCE CODE: github.com/SabarishR08/kaushalsetu</a:t>
            </a:r>
          </a:p>
        </p:txBody>
      </p:sp>
      <p:sp>
        <p:nvSpPr>
          <p:cNvPr id="182" name="Google Shape;182;p6"/>
          <p:cNvSpPr/>
          <p:nvPr/>
        </p:nvSpPr>
        <p:spPr>
          <a:xfrm>
            <a:off x="2731487" y="6567349"/>
            <a:ext cx="1890918" cy="29872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t>LIVE DEMO: kaushalsetu-mh.vercel.app</a:t>
            </a:r>
          </a:p>
        </p:txBody>
      </p:sp>
      <p:sp>
        <p:nvSpPr>
          <p:cNvPr id="183" name="Google Shape;183;p6"/>
          <p:cNvSpPr/>
          <p:nvPr/>
        </p:nvSpPr>
        <p:spPr>
          <a:xfrm>
            <a:off x="4853375" y="6563924"/>
            <a:ext cx="1890918" cy="29872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t>DATASET: 13,511 Verified MH Vacancies</a:t>
            </a:r>
          </a:p>
        </p:txBody>
      </p:sp>
      <p:sp>
        <p:nvSpPr>
          <p:cNvPr id="184" name="Google Shape;184;p6"/>
          <p:cNvSpPr/>
          <p:nvPr/>
        </p:nvSpPr>
        <p:spPr>
          <a:xfrm>
            <a:off x="6992850" y="6563924"/>
            <a:ext cx="1890918" cy="29872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t>SKILL DAG: 1,200+ NSQF Nodes</a:t>
            </a:r>
          </a:p>
        </p:txBody>
      </p:sp>
      <p:sp>
        <p:nvSpPr>
          <p:cNvPr id="185" name="Google Shape;185;p6"/>
          <p:cNvSpPr/>
          <p:nvPr/>
        </p:nvSpPr>
        <p:spPr>
          <a:xfrm>
            <a:off x="9132325" y="6563924"/>
            <a:ext cx="1890918" cy="29872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t>RECALL@5: 94.2% (Benchmark Validated)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